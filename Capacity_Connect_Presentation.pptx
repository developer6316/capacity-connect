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5943600" cy="4572000"/>
          </a:xfrm>
          <a:prstGeom prst="ellipse">
            <a:avLst/>
          </a:prstGeom>
          <a:solidFill>
            <a:srgbClr val="1A1E4A"/>
          </a:solidFill>
          <a:ln w="12700">
            <a:solidFill>
              <a:srgbClr val="28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5029200" cy="4114800"/>
          </a:xfrm>
          <a:prstGeom prst="ellipse">
            <a:avLst/>
          </a:prstGeom>
          <a:solidFill>
            <a:srgbClr val="0D2838"/>
          </a:solidFill>
          <a:ln w="12700">
            <a:solidFill>
              <a:srgbClr val="113F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3474720" cy="347472"/>
          </a:xfrm>
          <a:prstGeom prst="roundRect">
            <a:avLst>
              <a:gd name="adj" fmla="val 39474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DIGITAL LXP / LMS ECOSYSTEM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Connect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Topic or Theme: Unified Digital Ecosystem for Institutional Training, Competency Development &amp; Knowledge Sharing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next-generation, cognitive-first Learning Experience Platform (LXP) engineered to synthesize institutional training paths, empower trainers with automated evaluation telemetry, and guide learners through adaptive, 24/7 AI-scaffolded mastery.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9050">
            <a:solidFill>
              <a:srgbClr val="2330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206240"/>
            <a:ext cx="338328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Capacity Growth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8920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STEM pathways, SM-2 flashcard recall, and 24/7 Socratic AI guidance.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4206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9050">
            <a:solidFill>
              <a:srgbClr val="2330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4206240"/>
            <a:ext cx="33832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Workflow Acceleration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48920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evaluation desk, instant rubrics scoring, and competency endorsements.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4206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9050">
            <a:solidFill>
              <a:srgbClr val="2330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4206240"/>
            <a:ext cx="33832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Governance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48920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RBAC, immutable audit logging, and verifiable digital honors certificates.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9904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1E22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&amp; PAIN POINTS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4980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Realtime Problems Faced in Institutional Training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5912" cy="0"/>
          </a:xfrm>
          <a:prstGeom prst="line">
            <a:avLst/>
          </a:prstGeom>
          <a:noFill/>
          <a:ln w="12700">
            <a:solidFill>
              <a:srgbClr val="23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CONNECT • GLASSMORPHIC ARCHITECTURE • AUTHOR: DEVELOPER6316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32720" y="65105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3383280" cy="20574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783080"/>
            <a:ext cx="548640" cy="256032"/>
          </a:xfrm>
          <a:prstGeom prst="roundRect">
            <a:avLst>
              <a:gd name="adj" fmla="val 28571"/>
            </a:avLst>
          </a:prstGeom>
          <a:solidFill>
            <a:srgbClr val="1A2238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80136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Disjointed Learning Silos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194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Trainees juggle disconnected tools (videos, standalone code editors, PDFs, isolated quiz spreadsheets), causing severe context switching and lost continuity.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1600200"/>
            <a:ext cx="3383280" cy="20574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783080"/>
            <a:ext cx="548640" cy="256032"/>
          </a:xfrm>
          <a:prstGeom prst="roundRect">
            <a:avLst>
              <a:gd name="adj" fmla="val 28571"/>
            </a:avLst>
          </a:prstGeom>
          <a:solidFill>
            <a:srgbClr val="1A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80136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Grading Overload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2194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spend up to 70% of their bandwidth on manual homework grading and repetitive rubric assessments, resulting in feedback delays of days or weeks.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600200"/>
            <a:ext cx="3383280" cy="20574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1783080"/>
            <a:ext cx="548640" cy="256032"/>
          </a:xfrm>
          <a:prstGeom prst="roundRect">
            <a:avLst>
              <a:gd name="adj" fmla="val 28571"/>
            </a:avLst>
          </a:prstGeom>
          <a:solidFill>
            <a:srgbClr val="1A22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80136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154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Knowledge Decay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2194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systematic spaced repetition, trainees forget over 80% of technical principles within 48 hours, failing to translate lectures into retained competency.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3886200"/>
            <a:ext cx="3383280" cy="20574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069080"/>
            <a:ext cx="548640" cy="256032"/>
          </a:xfrm>
          <a:prstGeom prst="roundRect">
            <a:avLst>
              <a:gd name="adj" fmla="val 28571"/>
            </a:avLst>
          </a:prstGeom>
          <a:solidFill>
            <a:srgbClr val="1A223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08736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Invisibility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480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relies on blunt attendance figures rather than granular competency matrices, leaving critical organizational skill deficiencies undetected.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0" y="3886200"/>
            <a:ext cx="3383280" cy="20574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4069080"/>
            <a:ext cx="548640" cy="256032"/>
          </a:xfrm>
          <a:prstGeom prst="roundRect">
            <a:avLst>
              <a:gd name="adj" fmla="val 28571"/>
            </a:avLst>
          </a:prstGeom>
          <a:solidFill>
            <a:srgbClr val="1A22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408736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Offline Tolerance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17720" y="4480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web portals crash or lose unsaved quiz inputs when learners travel or encounter institutional network disruptions, breaking access.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46720" y="3886200"/>
            <a:ext cx="3383280" cy="20574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4069080"/>
            <a:ext cx="548640" cy="256032"/>
          </a:xfrm>
          <a:prstGeom prst="roundRect">
            <a:avLst>
              <a:gd name="adj" fmla="val 28571"/>
            </a:avLst>
          </a:prstGeom>
          <a:solidFill>
            <a:srgbClr val="1A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408736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1540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AI Helpers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75320" y="4480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provide direct raw answers without scaffolding the underlying scientific logic, eroding critical reasoning skills.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9904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1E22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ARCHITECTURAL SOLUTIONS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4980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Problems Solved Using This Solution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5912" cy="0"/>
          </a:xfrm>
          <a:prstGeom prst="line">
            <a:avLst/>
          </a:prstGeom>
          <a:noFill/>
          <a:ln w="12700">
            <a:solidFill>
              <a:srgbClr val="23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CONNECT • GLASSMORPHIC ARCHITECTURE • AUTHOR: DEVELOPER6316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32720" y="65105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600200"/>
            <a:ext cx="109728" cy="1325880"/>
          </a:xfrm>
          <a:prstGeom prst="roundRect">
            <a:avLst>
              <a:gd name="adj" fmla="val 41667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Single-Pane Ecosystem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73736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7556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SILOS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05840" y="207568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tool fragmentation by seamlessly combining course modules, interactive STEM whiteboard, code scratchpads, flashcards, and grading into one unified interface.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00200"/>
            <a:ext cx="109728" cy="1325880"/>
          </a:xfrm>
          <a:prstGeom prst="roundRect">
            <a:avLst>
              <a:gd name="adj" fmla="val 41667"/>
            </a:avLst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Multimodal AI Mentorship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195560" y="173736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182238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95560" y="17556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SHALLOW AI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92240" y="207568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3.8 Flash delivers patient, step-by-step Socratic scaffolding, visual diagram analysis, and audio synthesis—teaching reasoning rather than revealing cheats.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10896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108960"/>
            <a:ext cx="109728" cy="1325880"/>
          </a:xfrm>
          <a:prstGeom prst="roundRect">
            <a:avLst>
              <a:gd name="adj" fmla="val 4166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Rubrics &amp; Instant Feedback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324612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18223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264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GRADING LAG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05840" y="358444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evaluation turnaround from weeks to seconds with automated grading checks, rubric score breakdowns, and trainer feedback endorsement.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10896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108960"/>
            <a:ext cx="109728" cy="1325880"/>
          </a:xfrm>
          <a:prstGeom prst="roundRect">
            <a:avLst>
              <a:gd name="adj" fmla="val 41667"/>
            </a:avLst>
          </a:prstGeom>
          <a:solidFill>
            <a:srgbClr val="A855F7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Skill Competency Matrix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195560" y="324612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182238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95560" y="3264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SKILL INVISIBILITY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92240" y="358444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skill radar mapping technical proficiencies across departments, giving administrators real-time predictive telemetry on capability gaps.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61772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4617720"/>
            <a:ext cx="109728" cy="1325880"/>
          </a:xfrm>
          <a:prstGeom prst="roundRect">
            <a:avLst>
              <a:gd name="adj" fmla="val 41667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Spaced Repetition (SM-2)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09160" y="475488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18223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773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KNOWLEDGE DECAY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05840" y="509320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Scientifically schedules flashcard recall sessions at the exact point of memory decay, boosting long-term concept retention from 35% to 94%.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461772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4617720"/>
            <a:ext cx="109728" cy="1325880"/>
          </a:xfrm>
          <a:prstGeom prst="roundRect">
            <a:avLst>
              <a:gd name="adj" fmla="val 41667"/>
            </a:avLst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Progressive Web App (PWA)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195560" y="475488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95560" y="4773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OFFLINE CRASHES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492240" y="509320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Service Worker caching, local IndexedDB state, and automated background sync ensure flawless training uninterrupted by network outages.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9904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1E22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ACCESS LAYERS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4980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Structure Access &amp; Role-Based Governance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5912" cy="0"/>
          </a:xfrm>
          <a:prstGeom prst="line">
            <a:avLst/>
          </a:prstGeom>
          <a:noFill/>
          <a:ln w="12700">
            <a:solidFill>
              <a:srgbClr val="23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CONNECT • GLASSMORPHIC ARCHITECTURE • AUTHOR: DEVELOPER6316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32720" y="65105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7830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8105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/ LEARNER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Empowered Learning Studio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269748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Complete Course Catalog &amp; Multimedia Modules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310896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AI Socratic Tutor with Voice Synthesis Scaffolding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352044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Homework Solver &amp; Equation Scratchpad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393192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SM-2 Spaced Repetition Flashcard Engine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05840" y="434340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297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Quiz Arena, Streaks &amp; Live Leaderboard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05840" y="475488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Digital Honors Certificate Generator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89120" y="16002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7830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8105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/ FACULTY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2194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Evaluation Cockpit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269748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Assignment Submission &amp; Review Desk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10896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Rubrics Builder with Scoring &amp; Feedback Remarks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52044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Performance Telemetry &amp; Progress Overviews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93192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Skill Competency Matrix Endorsements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434340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4297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 Moderation &amp; Discussion Channels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475488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Customization &amp; Resource Uploads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46720" y="16002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17830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18105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(DEVELOPER6316)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21040" y="2194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Governance &amp; Security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321040" y="26974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User Directory &amp; RBAC Role Assignment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321040" y="31089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On-Demand PIN Challenge (No Tab Friction)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321040" y="35204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Security Audit Logging &amp; IP Telemetry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321040" y="39319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White-Label Configuration (Name &amp; Branding)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321040" y="43434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8503920" y="4297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Subject Catalog &amp; Competency Definitions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321040" y="47548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850392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 &amp; Database Backup Management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31520" y="544068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A243D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Client (React 19 + Vite 6 + Tailwind v4 + Motion)  ---&gt;  Gateway (Express.js + RBAC Guards)  ---&gt;  AI Core (Google Gemini 3.8 Flash SDK)  ---&gt;  Storage (Durable Credentials &amp; Audit File Store)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9904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1E22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PLATFORM MODULES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4980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Complete Platform Features (All Features Listed)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5912" cy="0"/>
          </a:xfrm>
          <a:prstGeom prst="line">
            <a:avLst/>
          </a:prstGeom>
          <a:noFill/>
          <a:ln w="12700">
            <a:solidFill>
              <a:srgbClr val="23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CONNECT • GLASSMORPHIC ARCHITECTURE • AUTHOR: DEVELOPER6316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32720" y="65105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737360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55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Course Catalog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STEM &amp; computational subjects with video lectures, transcripts &amp; resources.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0" y="160020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1737360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755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Socratic AI Tutor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conversational mentor with step-by-step guidance &amp; voice synthesis.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46720" y="160020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1737360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1755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Homework Solver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vision scanner parsing handwriting, math formulas &amp; diagrams.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1520" y="2496312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2633472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26517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STEM Canvas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28620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D3/Desmos graphing, coordinate plotting &amp; interactive geometry canvas.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89120" y="2496312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26280" y="2633472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26517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Spaced Repetition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8620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 flashcard scheduler calculating optimal recall intervals for core axioms.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46720" y="2496312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3880" y="2633472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26517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Arena &amp; Battles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0" y="28620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 duels, streak multipliers, daily goals &amp; live XP leaderboards.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1520" y="3392424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" y="3529584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354787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71600" y="3502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Assessment Desk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371600" y="3758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submissions, automated rubric scoring &amp; trainer feedback remarks.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89120" y="3392424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26280" y="3529584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354787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0" y="3502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Competency Matrix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0" y="3758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tracking proficiencies across institutional departments &amp; roles.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46720" y="3392424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83880" y="3529584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83880" y="354787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686800" y="3502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Knowledge Hub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686800" y="3758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organizational documentation and technical research repository.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31520" y="4288536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8680" y="4425696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44439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371600" y="43982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Knowledge Graph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371600" y="46542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network diagram connecting study nodes, prerequisites &amp; concepts.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389120" y="4288536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26280" y="4425696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26280" y="44439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29200" y="43982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Study Groups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29200" y="46542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study rooms, shared peer notes, and cohort discussion threads.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046720" y="4288536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83880" y="4425696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83880" y="44439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686800" y="43982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Holographic Honors Certificates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686800" y="46542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credentials with dynamic holographic gold foil border animations &amp; PDF export.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31520" y="5184648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" y="5321808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53400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371600" y="52943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Admin Governance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371600" y="55504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Developer6316 authentication with on-demand PIN modal, RBAC, &amp; branding controls.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89120" y="5184648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26280" y="5321808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26280" y="53400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029200" y="52943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Logger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029200" y="55504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 recording logins, role updates, and administrative actions.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8046720" y="5184648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83880" y="5321808"/>
            <a:ext cx="411480" cy="256032"/>
          </a:xfrm>
          <a:prstGeom prst="roundRect">
            <a:avLst>
              <a:gd name="adj" fmla="val 21429"/>
            </a:avLst>
          </a:prstGeom>
          <a:solidFill>
            <a:srgbClr val="18223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183880" y="53400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686800" y="52943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Offline-First Sync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686800" y="55504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Service Worker caching with automatic background synchronization.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9904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1E22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FUTURE 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4980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Others: Impact Metrics, Enterprise Security &amp; Roadmap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5912" cy="0"/>
          </a:xfrm>
          <a:prstGeom prst="line">
            <a:avLst/>
          </a:prstGeom>
          <a:noFill/>
          <a:ln w="12700">
            <a:solidFill>
              <a:srgbClr val="23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CONNECT • GLASSMORPHIC ARCHITECTURE • AUTHOR: DEVELOPER6316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32720" y="65105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Impact Metrics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Concept Retention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27249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via SM-2 active recall compared to 35% traditional baseline.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3200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400ms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5204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Latency SLA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7307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Socratic hints &amp; multimodal equation verification.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526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Time Saved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47365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rubrics &amp; instant checking accelerate grading cycles.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89120" y="160020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21945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Admin PIN Verification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423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modal security challenge for Developer6316 with prompt validation and zero tab clutter.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29718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Holographic Foil Certificates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CSS keyframe animations simulating metallic gold reflection and prismatic sheen.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3440" y="37490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Modern Full-Stack Architecture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to React 19, Vite 6, Tailwind CSS v4, and Google GenAI SDK for peak responsiveness.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4526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 Audit Logging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754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ledger tracking login timestamps, IP addresses, and role assignments.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46720" y="160020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131B2E"/>
          </a:solidFill>
          <a:ln w="15240">
            <a:solidFill>
              <a:srgbClr val="233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1040" y="21945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[Q3 2026] LTI 1.3 Canvas / Moodle Sync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2423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roster sync and grade passback with institutional LMS platforms.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321040" y="29718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[Q4 2026] Edge On-Device AI Models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0392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quantized neural inference for offline field operations and remote facilities.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21040" y="37490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[Q1 2027] Predictive Dropout Prevention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0392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telemetry algorithms analyzing friction points and pacing lags.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321040" y="4526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[Q2 2027] VR / AR Simulation Labs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03920" y="4754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immersion for spatial 3D physics and chemistry virtual apparatus.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1520" y="548640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A243D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ARCHITECT &amp; PLATFORM ADMINISTRATOR: DEVELOPER6316  |  REACT 19 • VITE 6 • TAILWIND V4  |  POWERED BY GOOGLE GEMINI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Capacity Connect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Capacity Connect — Unified Digital Ecosystem for Institutional Training</dc:title>
  <dc:subject>PptxGenJS Presentation</dc:subject>
  <dc:creator>Developer6316</dc:creator>
  <cp:lastModifiedBy>Developer6316</cp:lastModifiedBy>
  <cp:revision>1</cp:revision>
  <dcterms:created xsi:type="dcterms:W3CDTF">2026-09-10T19:39:17Z</dcterms:created>
  <dcterms:modified xsi:type="dcterms:W3CDTF">2026-09-10T19:39:17Z</dcterms:modified>
</cp:coreProperties>
</file>